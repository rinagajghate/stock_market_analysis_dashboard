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7" r:id="rId1"/>
  </p:sldMasterIdLst>
  <p:sldIdLst>
    <p:sldId id="266" r:id="rId2"/>
    <p:sldId id="264" r:id="rId3"/>
    <p:sldId id="257" r:id="rId4"/>
    <p:sldId id="265" r:id="rId5"/>
    <p:sldId id="259" r:id="rId6"/>
    <p:sldId id="260" r:id="rId7"/>
    <p:sldId id="262" r:id="rId8"/>
    <p:sldId id="261" r:id="rId9"/>
    <p:sldId id="263" r:id="rId10"/>
    <p:sldId id="267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88050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0157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75675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73678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97876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70894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22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06922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84881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49201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923372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11772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699991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00984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93761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02497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11/13/2025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48757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gif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CDDE93-6AD9-0D7F-96D7-DF6475B16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solidFill>
                  <a:srgbClr val="00B050"/>
                </a:solidFill>
              </a:rPr>
              <a:t>STOCK MARKET ANALYTICS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F0D10D9-B4CD-4A8A-9FF0-369C78C216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6571" y="1648590"/>
            <a:ext cx="2449991" cy="1044822"/>
          </a:xfrm>
          <a:prstGeom prst="rect">
            <a:avLst/>
          </a:prstGeom>
        </p:spPr>
      </p:pic>
      <p:pic>
        <p:nvPicPr>
          <p:cNvPr id="4" name="Picture 3" descr="Image result for tableau">
            <a:extLst>
              <a:ext uri="{FF2B5EF4-FFF2-40B4-BE49-F238E27FC236}">
                <a16:creationId xmlns:a16="http://schemas.microsoft.com/office/drawing/2014/main" id="{70A23B2D-690D-35AD-0E53-390603300F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1440" y="1648590"/>
            <a:ext cx="1486964" cy="861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MySQL round logo transparent PNG - StickPNG">
            <a:extLst>
              <a:ext uri="{FF2B5EF4-FFF2-40B4-BE49-F238E27FC236}">
                <a16:creationId xmlns:a16="http://schemas.microsoft.com/office/drawing/2014/main" id="{CF1160E7-44C4-5E2A-8606-9E5B14BE79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1462" y="1648590"/>
            <a:ext cx="766213" cy="766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 descr="A logo of a company&#10;&#10;AI-generated content may be incorrect.">
            <a:extLst>
              <a:ext uri="{FF2B5EF4-FFF2-40B4-BE49-F238E27FC236}">
                <a16:creationId xmlns:a16="http://schemas.microsoft.com/office/drawing/2014/main" id="{44410980-315C-AD89-5856-B6000679ABC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2553" y="1426017"/>
            <a:ext cx="1297180" cy="1297180"/>
          </a:xfrm>
          <a:prstGeom prst="rect">
            <a:avLst/>
          </a:prstGeom>
        </p:spPr>
      </p:pic>
      <p:pic>
        <p:nvPicPr>
          <p:cNvPr id="7" name="Picture 6" descr="A blue bull with horns&#10;&#10;AI-generated content may be incorrect.">
            <a:extLst>
              <a:ext uri="{FF2B5EF4-FFF2-40B4-BE49-F238E27FC236}">
                <a16:creationId xmlns:a16="http://schemas.microsoft.com/office/drawing/2014/main" id="{DEEE634A-DCFF-D569-E65A-18F56031E72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2991" y="2510526"/>
            <a:ext cx="5737123" cy="4302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58730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694832-FF3D-1B78-E503-C35655DDD4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13703" y="809127"/>
            <a:ext cx="6764594" cy="4647776"/>
          </a:xfrm>
        </p:spPr>
        <p:txBody>
          <a:bodyPr/>
          <a:lstStyle/>
          <a:p>
            <a:pPr marL="0" indent="0">
              <a:buNone/>
            </a:pPr>
            <a:r>
              <a:rPr lang="en-IN" sz="3600" dirty="0">
                <a:solidFill>
                  <a:srgbClr val="FF6600"/>
                </a:solidFill>
              </a:rPr>
              <a:t>GROUP 1</a:t>
            </a:r>
          </a:p>
          <a:p>
            <a:pPr marL="0" indent="0">
              <a:buNone/>
            </a:pPr>
            <a:endParaRPr lang="en-IN" sz="3600" dirty="0">
              <a:solidFill>
                <a:srgbClr val="FF6600"/>
              </a:solidFill>
            </a:endParaRPr>
          </a:p>
          <a:p>
            <a:pPr>
              <a:buAutoNum type="arabicPeriod"/>
            </a:pPr>
            <a:r>
              <a:rPr lang="en-IN" sz="2800" dirty="0"/>
              <a:t>TAMAL ROY</a:t>
            </a:r>
          </a:p>
          <a:p>
            <a:pPr>
              <a:buAutoNum type="arabicPeriod"/>
            </a:pPr>
            <a:r>
              <a:rPr lang="en-IN" sz="2800" dirty="0"/>
              <a:t>SUBHANKAR SADHU</a:t>
            </a:r>
          </a:p>
          <a:p>
            <a:pPr>
              <a:buAutoNum type="arabicPeriod"/>
            </a:pPr>
            <a:r>
              <a:rPr lang="en-IN" sz="2800" dirty="0"/>
              <a:t>ROHIT PATIL</a:t>
            </a:r>
          </a:p>
          <a:p>
            <a:pPr>
              <a:buAutoNum type="arabicPeriod"/>
            </a:pPr>
            <a:r>
              <a:rPr lang="en-IN" sz="2800" dirty="0"/>
              <a:t>RINA GAJGHATE</a:t>
            </a:r>
          </a:p>
          <a:p>
            <a:pPr>
              <a:buAutoNum type="arabicPeriod"/>
            </a:pPr>
            <a:r>
              <a:rPr lang="en-IN" sz="2800" dirty="0"/>
              <a:t>NILAM GOURAJE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28754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E59900-7DE6-FEE7-6FC6-DC4F29EA48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40075" y="1651819"/>
            <a:ext cx="9164536" cy="4404852"/>
          </a:xfrm>
        </p:spPr>
        <p:txBody>
          <a:bodyPr>
            <a:normAutofit/>
          </a:bodyPr>
          <a:lstStyle/>
          <a:p>
            <a:r>
              <a:rPr lang="en-IN" dirty="0"/>
              <a:t>This project presents a comprehensive Stock Market Analytics and Visualization System built using Excel, SQL, Power BI, and Tableau.</a:t>
            </a:r>
            <a:br>
              <a:rPr lang="en-IN" dirty="0"/>
            </a:br>
            <a:r>
              <a:rPr lang="en-IN" dirty="0"/>
              <a:t>It integrates multi-source financial data to analyse market performance, volatility, sector growth, portfolio valuation, and trader efficiency.</a:t>
            </a:r>
          </a:p>
          <a:p>
            <a:r>
              <a:rPr lang="en-IN" dirty="0"/>
              <a:t>A robust data model was developed by linking key datasets — including daily prices, positions, trades, orders, companies, sectors, and calendars — ensuring clean, accurate, and scalable relationships.</a:t>
            </a:r>
            <a:br>
              <a:rPr lang="en-IN" dirty="0"/>
            </a:br>
            <a:r>
              <a:rPr lang="en-IN" dirty="0"/>
              <a:t>Using advanced SQL queries for data extraction and Excel preprocessing for cleansing, the data was visualized in Power BI and Tableau through interactive dashboards that deliver real-time market insights.</a:t>
            </a:r>
          </a:p>
          <a:p>
            <a:r>
              <a:rPr lang="en-IN" dirty="0"/>
              <a:t>This end-to-end analytical framework empowers investors, analysts, and portfolio managers to make data-driven investment decisions, identify top-performing sectors, and monitor portfolio performance with precision.</a:t>
            </a:r>
          </a:p>
          <a:p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290F738-4120-A9DD-2AF1-5311D3A5E2DE}"/>
              </a:ext>
            </a:extLst>
          </p:cNvPr>
          <p:cNvSpPr/>
          <p:nvPr/>
        </p:nvSpPr>
        <p:spPr>
          <a:xfrm>
            <a:off x="0" y="284813"/>
            <a:ext cx="8034728" cy="483819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75000"/>
                </a:schemeClr>
              </a:gs>
              <a:gs pos="5300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/>
              <a:t>PROJECT SUMMARY</a:t>
            </a:r>
          </a:p>
        </p:txBody>
      </p:sp>
    </p:spTree>
    <p:extLst>
      <p:ext uri="{BB962C8B-B14F-4D97-AF65-F5344CB8AC3E}">
        <p14:creationId xmlns:p14="http://schemas.microsoft.com/office/powerpoint/2010/main" val="21521980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399BFA-E5FB-1B20-D7AD-9102FE8846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77961" y="1799303"/>
            <a:ext cx="10048568" cy="4326194"/>
          </a:xfrm>
        </p:spPr>
        <p:txBody>
          <a:bodyPr>
            <a:normAutofit/>
          </a:bodyPr>
          <a:lstStyle/>
          <a:p>
            <a:pPr>
              <a:buAutoNum type="arabicPeriod"/>
            </a:pPr>
            <a:r>
              <a:rPr lang="en-IN" b="1" dirty="0">
                <a:solidFill>
                  <a:srgbClr val="FF6600"/>
                </a:solidFill>
              </a:rPr>
              <a:t>TOTAL MARKET CAPITALISATION</a:t>
            </a:r>
            <a:r>
              <a:rPr lang="en-IN" dirty="0"/>
              <a:t>	: Total portfolio or market value.</a:t>
            </a:r>
          </a:p>
          <a:p>
            <a:pPr>
              <a:buAutoNum type="arabicPeriod"/>
            </a:pPr>
            <a:r>
              <a:rPr lang="en-IN" b="1" dirty="0">
                <a:solidFill>
                  <a:srgbClr val="FF6600"/>
                </a:solidFill>
              </a:rPr>
              <a:t>AVERAGE DAILY TRADING VOL		</a:t>
            </a:r>
            <a:r>
              <a:rPr lang="en-IN" dirty="0"/>
              <a:t>: Mean of daily volume traded</a:t>
            </a:r>
          </a:p>
          <a:p>
            <a:pPr>
              <a:buAutoNum type="arabicPeriod"/>
            </a:pPr>
            <a:r>
              <a:rPr lang="en-IN" b="1" dirty="0">
                <a:solidFill>
                  <a:srgbClr val="FF6600"/>
                </a:solidFill>
              </a:rPr>
              <a:t>VOLATILITY			</a:t>
            </a:r>
            <a:r>
              <a:rPr lang="en-IN" dirty="0"/>
              <a:t>			: Price fluctuation measure</a:t>
            </a:r>
          </a:p>
          <a:p>
            <a:pPr>
              <a:buAutoNum type="arabicPeriod"/>
            </a:pPr>
            <a:r>
              <a:rPr lang="en-IN" b="1" dirty="0">
                <a:solidFill>
                  <a:srgbClr val="FF6600"/>
                </a:solidFill>
              </a:rPr>
              <a:t>TOTAL NUMBER OF TRADES	</a:t>
            </a:r>
            <a:r>
              <a:rPr lang="en-IN" dirty="0"/>
              <a:t>	: Total Trades</a:t>
            </a:r>
          </a:p>
          <a:p>
            <a:pPr>
              <a:buAutoNum type="arabicPeriod"/>
            </a:pPr>
            <a:r>
              <a:rPr lang="en-IN" b="1" dirty="0">
                <a:solidFill>
                  <a:srgbClr val="FF6600"/>
                </a:solidFill>
              </a:rPr>
              <a:t>TOP PERFORMING SECTOR </a:t>
            </a:r>
            <a:r>
              <a:rPr lang="en-IN" dirty="0"/>
              <a:t>			: </a:t>
            </a:r>
            <a:r>
              <a:rPr lang="en-US" dirty="0"/>
              <a:t>Sector with highest average return</a:t>
            </a:r>
            <a:endParaRPr lang="en-IN" dirty="0"/>
          </a:p>
          <a:p>
            <a:pPr>
              <a:buAutoNum type="arabicPeriod"/>
            </a:pPr>
            <a:r>
              <a:rPr lang="en-IN" b="1" dirty="0">
                <a:solidFill>
                  <a:srgbClr val="FF6600"/>
                </a:solidFill>
              </a:rPr>
              <a:t>PORTFOLIO VALUE	</a:t>
            </a:r>
            <a:r>
              <a:rPr lang="en-IN" dirty="0"/>
              <a:t>			: Total current market value of all holdings.</a:t>
            </a:r>
          </a:p>
          <a:p>
            <a:pPr>
              <a:buAutoNum type="arabicPeriod"/>
            </a:pPr>
            <a:r>
              <a:rPr lang="en-IN" b="1" dirty="0">
                <a:solidFill>
                  <a:srgbClr val="FF6600"/>
                </a:solidFill>
              </a:rPr>
              <a:t>PORTFOLIO RETURN	</a:t>
            </a:r>
            <a:r>
              <a:rPr lang="en-IN" dirty="0"/>
              <a:t>			: % growth of portfolio value over time.</a:t>
            </a:r>
          </a:p>
          <a:p>
            <a:pPr>
              <a:buAutoNum type="arabicPeriod"/>
            </a:pPr>
            <a:r>
              <a:rPr lang="en-IN" b="1" dirty="0">
                <a:solidFill>
                  <a:srgbClr val="FF6600"/>
                </a:solidFill>
              </a:rPr>
              <a:t>DIVIDEND YIELD		</a:t>
            </a:r>
            <a:r>
              <a:rPr lang="en-IN" dirty="0"/>
              <a:t>			: Income return generated through dividends</a:t>
            </a:r>
          </a:p>
          <a:p>
            <a:pPr>
              <a:buAutoNum type="arabicPeriod"/>
            </a:pPr>
            <a:r>
              <a:rPr lang="en-IN" b="1" dirty="0">
                <a:solidFill>
                  <a:srgbClr val="FF6600"/>
                </a:solidFill>
              </a:rPr>
              <a:t>TRADE WIN RATE	</a:t>
            </a:r>
            <a:r>
              <a:rPr lang="en-IN" dirty="0"/>
              <a:t>				: % of profitable trades out of total executed trades.</a:t>
            </a:r>
          </a:p>
          <a:p>
            <a:pPr>
              <a:buAutoNum type="arabicPeriod"/>
            </a:pPr>
            <a:r>
              <a:rPr lang="en-IN" b="1" dirty="0">
                <a:solidFill>
                  <a:srgbClr val="FF6600"/>
                </a:solidFill>
              </a:rPr>
              <a:t>TRADER PERFORMANCE (P/L)	</a:t>
            </a:r>
            <a:r>
              <a:rPr lang="en-IN" dirty="0"/>
              <a:t>	: Net profit or loss achieved by traders.</a:t>
            </a:r>
          </a:p>
          <a:p>
            <a:pPr>
              <a:buAutoNum type="arabicPeriod"/>
            </a:pPr>
            <a:endParaRPr lang="en-IN" dirty="0"/>
          </a:p>
          <a:p>
            <a:pPr>
              <a:buAutoNum type="arabicPeriod"/>
            </a:pPr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A95410E-A536-F035-1425-1E95FB19744E}"/>
              </a:ext>
            </a:extLst>
          </p:cNvPr>
          <p:cNvSpPr/>
          <p:nvPr/>
        </p:nvSpPr>
        <p:spPr>
          <a:xfrm>
            <a:off x="0" y="284813"/>
            <a:ext cx="8034728" cy="483819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75000"/>
                </a:schemeClr>
              </a:gs>
              <a:gs pos="5300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/>
              <a:t>KPI’s &amp; METRICS</a:t>
            </a:r>
            <a:endParaRPr lang="en-IN" b="1" dirty="0">
              <a:ln>
                <a:solidFill>
                  <a:schemeClr val="bg1"/>
                </a:solidFill>
              </a:ln>
              <a:latin typeface="Amasis MT Pro" panose="020405040500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47601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EB088A5-E2F9-3BDB-F0B0-519FFCBBE2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84420"/>
            <a:ext cx="12191999" cy="597358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ED811FA-9373-0E21-B3A1-DC0DE5CE16D7}"/>
              </a:ext>
            </a:extLst>
          </p:cNvPr>
          <p:cNvSpPr/>
          <p:nvPr/>
        </p:nvSpPr>
        <p:spPr>
          <a:xfrm>
            <a:off x="0" y="284813"/>
            <a:ext cx="8034728" cy="483819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75000"/>
                </a:schemeClr>
              </a:gs>
              <a:gs pos="5300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/>
              <a:t>Excel Dashboard</a:t>
            </a:r>
            <a:endParaRPr lang="en-IN" b="1" dirty="0">
              <a:ln>
                <a:solidFill>
                  <a:schemeClr val="bg1"/>
                </a:solidFill>
              </a:ln>
              <a:latin typeface="Amasis MT Pro" panose="020405040500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69453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9B47735-29B9-6ADF-9053-19BF2CA79E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84418"/>
            <a:ext cx="12191999" cy="5988571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0B9C6586-EC0D-F29E-B697-5C27F8734ECA}"/>
              </a:ext>
            </a:extLst>
          </p:cNvPr>
          <p:cNvSpPr/>
          <p:nvPr/>
        </p:nvSpPr>
        <p:spPr>
          <a:xfrm>
            <a:off x="0" y="284813"/>
            <a:ext cx="8034728" cy="483819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75000"/>
                </a:schemeClr>
              </a:gs>
              <a:gs pos="5300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/>
              <a:t>Tableau Dashboard</a:t>
            </a:r>
            <a:endParaRPr lang="en-IN" b="1" dirty="0">
              <a:ln>
                <a:solidFill>
                  <a:schemeClr val="bg1"/>
                </a:solidFill>
              </a:ln>
              <a:latin typeface="Amasis MT Pro" panose="020405040500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69102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99108F-7EA1-6321-AEED-1933A98CE8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FE2BA4C-D476-F231-CEC6-75B42CBC03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615" y="734518"/>
            <a:ext cx="10732957" cy="612348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CF57E118-2EBA-A270-85E3-CBCCD001D474}"/>
              </a:ext>
            </a:extLst>
          </p:cNvPr>
          <p:cNvSpPr/>
          <p:nvPr/>
        </p:nvSpPr>
        <p:spPr>
          <a:xfrm>
            <a:off x="0" y="284813"/>
            <a:ext cx="8034728" cy="483819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75000"/>
                </a:schemeClr>
              </a:gs>
              <a:gs pos="5300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/>
              <a:t>SQL Queries</a:t>
            </a:r>
            <a:endParaRPr lang="en-IN" b="1" dirty="0">
              <a:ln>
                <a:solidFill>
                  <a:schemeClr val="bg1"/>
                </a:solidFill>
              </a:ln>
              <a:latin typeface="Amasis MT Pro" panose="020405040500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39239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DBD6AB-825B-A1F0-9396-486FD5FFF7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3BFF806-AEF4-4951-51E2-6CF78B8BD3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87724"/>
            <a:ext cx="12191999" cy="577027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7A654CE-122C-9ABB-81B3-BC0BCC69B440}"/>
              </a:ext>
            </a:extLst>
          </p:cNvPr>
          <p:cNvSpPr txBox="1"/>
          <p:nvPr/>
        </p:nvSpPr>
        <p:spPr>
          <a:xfrm>
            <a:off x="91607" y="4542019"/>
            <a:ext cx="15889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Power BI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CF5C8CD-7E37-F926-91FA-7F31EDA90567}"/>
              </a:ext>
            </a:extLst>
          </p:cNvPr>
          <p:cNvSpPr/>
          <p:nvPr/>
        </p:nvSpPr>
        <p:spPr>
          <a:xfrm>
            <a:off x="0" y="284813"/>
            <a:ext cx="8034728" cy="483819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75000"/>
                </a:schemeClr>
              </a:gs>
              <a:gs pos="5300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ln>
                  <a:solidFill>
                    <a:schemeClr val="bg1"/>
                  </a:solidFill>
                </a:ln>
                <a:latin typeface="Amasis MT Pro" panose="02040504050005020304" pitchFamily="18" charset="0"/>
              </a:rPr>
              <a:t>P</a:t>
            </a:r>
            <a:r>
              <a:rPr lang="en-IN" b="1" dirty="0" err="1">
                <a:ln>
                  <a:solidFill>
                    <a:schemeClr val="bg1"/>
                  </a:solidFill>
                </a:ln>
                <a:latin typeface="Amasis MT Pro" panose="02040504050005020304" pitchFamily="18" charset="0"/>
              </a:rPr>
              <a:t>ower</a:t>
            </a:r>
            <a:r>
              <a:rPr lang="en-IN" b="1" dirty="0">
                <a:ln>
                  <a:solidFill>
                    <a:schemeClr val="bg1"/>
                  </a:solidFill>
                </a:ln>
                <a:latin typeface="Amasis MT Pro" panose="02040504050005020304" pitchFamily="18" charset="0"/>
              </a:rPr>
              <a:t> BI Dashboard</a:t>
            </a:r>
          </a:p>
        </p:txBody>
      </p:sp>
    </p:spTree>
    <p:extLst>
      <p:ext uri="{BB962C8B-B14F-4D97-AF65-F5344CB8AC3E}">
        <p14:creationId xmlns:p14="http://schemas.microsoft.com/office/powerpoint/2010/main" val="37850542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6F5D12-9738-1B4B-0D87-AA9B33242F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69574" y="537299"/>
            <a:ext cx="9135038" cy="1651265"/>
          </a:xfrm>
        </p:spPr>
        <p:txBody>
          <a:bodyPr/>
          <a:lstStyle/>
          <a:p>
            <a:pPr marL="0" indent="0">
              <a:buNone/>
            </a:pPr>
            <a:r>
              <a:rPr lang="en-IN" sz="1600" dirty="0"/>
              <a:t>The project uncovered strong market stability with key growth driven by Healthcare and Consumer Discretionary sectors.</a:t>
            </a:r>
            <a:br>
              <a:rPr lang="en-IN" sz="1600" dirty="0"/>
            </a:br>
            <a:r>
              <a:rPr lang="en-IN" sz="1600" dirty="0"/>
              <a:t>Top-performing portfolios and traders achieved superior returns through efficient capital allocation and strategy execution.</a:t>
            </a:r>
            <a:br>
              <a:rPr lang="en-IN" sz="1600" dirty="0"/>
            </a:br>
            <a:r>
              <a:rPr lang="en-IN" sz="1600" dirty="0"/>
              <a:t>Overall, it enabled data-driven investment insights and built a scalable analytics framework using SQL, Excel, Power BI, and Tableau.</a:t>
            </a:r>
          </a:p>
          <a:p>
            <a:endParaRPr lang="en-IN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F17BAE1-86D8-09E0-2C3B-224CAE2F17CC}"/>
              </a:ext>
            </a:extLst>
          </p:cNvPr>
          <p:cNvSpPr txBox="1">
            <a:spLocks/>
          </p:cNvSpPr>
          <p:nvPr/>
        </p:nvSpPr>
        <p:spPr>
          <a:xfrm>
            <a:off x="2369574" y="2679292"/>
            <a:ext cx="9135038" cy="17028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1600" dirty="0"/>
              <a:t>The project faced challenges in data integration and relationship building due to duplicate and inconsistent records across multiple fact tables.</a:t>
            </a:r>
            <a:br>
              <a:rPr lang="en-IN" sz="1600" dirty="0"/>
            </a:br>
            <a:r>
              <a:rPr lang="en-IN" sz="1600" dirty="0"/>
              <a:t>Ensuring accurate KPI calculations like market capitalization and volatility required deep data validation.</a:t>
            </a:r>
            <a:br>
              <a:rPr lang="en-IN" sz="1600" dirty="0"/>
            </a:br>
            <a:r>
              <a:rPr lang="en-IN" sz="1600" dirty="0"/>
              <a:t>Optimizing large datasets for smooth performance in Power BI and Tableau also demanded careful modelling and query tuning. 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72782DC6-4F4A-4798-A11A-49E6A7D6EB4A}"/>
              </a:ext>
            </a:extLst>
          </p:cNvPr>
          <p:cNvSpPr txBox="1">
            <a:spLocks/>
          </p:cNvSpPr>
          <p:nvPr/>
        </p:nvSpPr>
        <p:spPr>
          <a:xfrm>
            <a:off x="2369574" y="4821286"/>
            <a:ext cx="9135038" cy="19355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1700" dirty="0"/>
              <a:t>The client should reallocate investments toward high-performing sectors like Healthcare and Consumer Discretionary to maximize returns.</a:t>
            </a:r>
            <a:br>
              <a:rPr lang="en-IN" sz="1700" dirty="0"/>
            </a:br>
            <a:r>
              <a:rPr lang="en-IN" sz="1700" dirty="0"/>
              <a:t>Implementing AI-driven portfolio optimization and automated trading can enhance profit and reduce risk.</a:t>
            </a:r>
            <a:br>
              <a:rPr lang="en-IN" sz="1700" dirty="0"/>
            </a:br>
            <a:r>
              <a:rPr lang="en-IN" sz="1700" dirty="0"/>
              <a:t>Optimizing management fees and expanding into global markets will further increase overall revenue and portfolio efficiency.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09AD8A4-E551-7EA1-76E1-368C8A931B52}"/>
              </a:ext>
            </a:extLst>
          </p:cNvPr>
          <p:cNvSpPr/>
          <p:nvPr/>
        </p:nvSpPr>
        <p:spPr>
          <a:xfrm>
            <a:off x="0" y="101199"/>
            <a:ext cx="8034728" cy="483819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75000"/>
                </a:schemeClr>
              </a:gs>
              <a:gs pos="5300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ln>
                  <a:solidFill>
                    <a:schemeClr val="bg1"/>
                  </a:solidFill>
                </a:ln>
                <a:latin typeface="Amasis MT Pro" panose="02040504050005020304" pitchFamily="18" charset="0"/>
              </a:rPr>
              <a:t>Business Insights</a:t>
            </a:r>
            <a:endParaRPr lang="en-IN" b="1" dirty="0">
              <a:ln>
                <a:solidFill>
                  <a:schemeClr val="bg1"/>
                </a:solidFill>
              </a:ln>
              <a:latin typeface="Amasis MT Pro" panose="020405040500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4FB4AB9-7069-4A4D-1B2C-FCDA18B223E4}"/>
              </a:ext>
            </a:extLst>
          </p:cNvPr>
          <p:cNvSpPr/>
          <p:nvPr/>
        </p:nvSpPr>
        <p:spPr>
          <a:xfrm>
            <a:off x="0" y="2143853"/>
            <a:ext cx="8034728" cy="483819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75000"/>
                </a:schemeClr>
              </a:gs>
              <a:gs pos="5300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ln>
                  <a:solidFill>
                    <a:schemeClr val="bg1"/>
                  </a:solidFill>
                </a:ln>
                <a:latin typeface="Amasis MT Pro" panose="02040504050005020304" pitchFamily="18" charset="0"/>
              </a:rPr>
              <a:t>Challenges</a:t>
            </a:r>
            <a:endParaRPr lang="en-IN" b="1" dirty="0">
              <a:ln>
                <a:solidFill>
                  <a:schemeClr val="bg1"/>
                </a:solidFill>
              </a:ln>
              <a:latin typeface="Amasis MT Pro" panose="020405040500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F5D3B22-3F4F-E56B-AD5C-8325307A8763}"/>
              </a:ext>
            </a:extLst>
          </p:cNvPr>
          <p:cNvSpPr/>
          <p:nvPr/>
        </p:nvSpPr>
        <p:spPr>
          <a:xfrm>
            <a:off x="0" y="4260309"/>
            <a:ext cx="8034728" cy="483819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75000"/>
                </a:schemeClr>
              </a:gs>
              <a:gs pos="5300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ln>
                  <a:solidFill>
                    <a:schemeClr val="bg1"/>
                  </a:solidFill>
                </a:ln>
                <a:latin typeface="Amasis MT Pro" panose="02040504050005020304" pitchFamily="18" charset="0"/>
              </a:rPr>
              <a:t>Future Recommendations</a:t>
            </a:r>
            <a:endParaRPr lang="en-IN" b="1" dirty="0">
              <a:ln>
                <a:solidFill>
                  <a:schemeClr val="bg1"/>
                </a:solidFill>
              </a:ln>
              <a:latin typeface="Amasis MT Pro" panose="020405040500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52347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736017-2DBF-B76E-2AE6-CAFC725BFD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0314" y="2788555"/>
            <a:ext cx="5953628" cy="1280890"/>
          </a:xfrm>
        </p:spPr>
        <p:txBody>
          <a:bodyPr>
            <a:normAutofit/>
          </a:bodyPr>
          <a:lstStyle/>
          <a:p>
            <a:pPr algn="ctr"/>
            <a:r>
              <a:rPr lang="en-IN" sz="4400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787473803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169</TotalTime>
  <Words>482</Words>
  <Application>Microsoft Office PowerPoint</Application>
  <PresentationFormat>Widescreen</PresentationFormat>
  <Paragraphs>35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Amasis MT Pro</vt:lpstr>
      <vt:lpstr>Arial</vt:lpstr>
      <vt:lpstr>Trebuchet MS</vt:lpstr>
      <vt:lpstr>Wingdings 3</vt:lpstr>
      <vt:lpstr>Facet</vt:lpstr>
      <vt:lpstr>STOCK MARKET ANALYTICS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Shree</dc:creator>
  <cp:lastModifiedBy>Subhankar Sadhu</cp:lastModifiedBy>
  <cp:revision>11</cp:revision>
  <dcterms:created xsi:type="dcterms:W3CDTF">2025-11-11T04:01:18Z</dcterms:created>
  <dcterms:modified xsi:type="dcterms:W3CDTF">2025-11-13T07:14:46Z</dcterms:modified>
</cp:coreProperties>
</file>